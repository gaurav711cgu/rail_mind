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B4D8"/>
                </a:solidFill>
                <a:latin typeface="Arial"/>
              </a:defRPr>
            </a:pPr>
            <a:r>
              <a:t>RAILMIND</a:t>
            </a:r>
          </a:p>
          <a:p>
            <a:pPr algn="l">
              <a:spcBef>
                <a:spcPts val="2000"/>
              </a:spcBef>
              <a:defRPr sz="2400">
                <a:solidFill>
                  <a:srgbClr val="E0E1DD"/>
                </a:solidFill>
                <a:latin typeface="Arial"/>
              </a:defRPr>
            </a:pPr>
            <a:r>
              <a:t>Autonomous Dispatching &amp; Punctuality Engine for Indian Railways</a:t>
            </a:r>
          </a:p>
          <a:p>
            <a:pPr algn="l">
              <a:spcBef>
                <a:spcPts val="4000"/>
              </a:spcBef>
              <a:defRPr sz="1600">
                <a:solidFill>
                  <a:srgbClr val="F4A261"/>
                </a:solidFill>
                <a:latin typeface="Arial"/>
              </a:defRPr>
            </a:pPr>
            <a:r>
              <a:t>Delhi Regional Finals | FAR AWAY 2026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  <a:latin typeface="Arial"/>
              </a:defRPr>
            </a:pPr>
            <a:r>
              <a:t>The Operational Problem Statement</a:t>
            </a:r>
          </a:p>
          <a:p>
            <a:pPr>
              <a:spcBef>
                <a:spcPts val="500"/>
              </a:spcBef>
              <a:defRPr sz="1400">
                <a:solidFill>
                  <a:srgbClr val="8C8C96"/>
                </a:solidFill>
                <a:latin typeface="Arial"/>
              </a:defRPr>
            </a:pPr>
            <a:r>
              <a:t>Why current railway dispatching methods cause massive delay propagation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Systemic Congestion &amp; Bottlenecks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Multi-zone routing conflicts and section sharing cause immediate delays.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Downstream Delay Cascades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A single 10-minute localized signal failure can amplify into hundreds of minutes of downstream delay.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Ticketing Uncertainty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Passengers face waitlist (WL) to confirmation (CNF) stress with no explainable resolution metrics.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Lack of Decision Accountability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Manual dispatch logs make it difficult to audit past decisions or trace tampering.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3946"/>
                </a:solidFill>
              </a:defRPr>
            </a:pPr>
            <a:r>
              <a:t>THE COST OF DELAY</a:t>
            </a:r>
          </a:p>
          <a:p>
            <a:pPr>
              <a:spcBef>
                <a:spcPts val="1000"/>
              </a:spcBef>
              <a:defRPr sz="1600">
                <a:solidFill>
                  <a:srgbClr val="E0E1DD"/>
                </a:solidFill>
              </a:defRPr>
            </a:pPr>
            <a:r>
              <a:t>Hundreds of thousands of passenger delay minutes accumulated daily. Track capacity remains underutilized due to reactive, manual routing controls.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  <a:latin typeface="Arial"/>
              </a:defRPr>
            </a:pPr>
            <a:r>
              <a:t>The RailMind Solution</a:t>
            </a:r>
          </a:p>
          <a:p>
            <a:pPr>
              <a:spcBef>
                <a:spcPts val="500"/>
              </a:spcBef>
              <a:defRPr sz="1400">
                <a:solidFill>
                  <a:srgbClr val="8C8C96"/>
                </a:solidFill>
                <a:latin typeface="Arial"/>
              </a:defRPr>
            </a:pPr>
            <a:r>
              <a:t>Combining autonomous multi-agent systems and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LangGraph Agentic Swarm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6 specialized agents coordinating dynamically to resolve network conflicts.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Deep Learning &amp; ML Foundations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PyTorch GNNs mapping section delay cascade propagation.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Stacked XGBoost ensembles predicting calibrated ticket confirmation odds.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Gymnasium RL environment simulating dispatcher policies.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Zero-Trust Audit Ledger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SHA-256 block hashing and write-blocked DB constraints.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D8"/>
                </a:solidFill>
              </a:defRPr>
            </a:pPr>
            <a:r>
              <a:t>PIONEERING RAILWAY OPERATION</a:t>
            </a:r>
          </a:p>
          <a:p>
            <a:pPr>
              <a:spcBef>
                <a:spcPts val="1000"/>
              </a:spcBef>
              <a:defRPr sz="1600">
                <a:solidFill>
                  <a:srgbClr val="E0E1DD"/>
                </a:solidFill>
              </a:defRPr>
            </a:pPr>
            <a:r>
              <a:t>Transitioning from reactive manual dispatching to proactive, explainable, and cryptographically verified autonomous regulation.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  <a:latin typeface="Arial"/>
              </a:defRPr>
            </a:pPr>
            <a:r>
              <a:t>Product Requirements &amp; Scope</a:t>
            </a:r>
          </a:p>
          <a:p>
            <a:pPr>
              <a:spcBef>
                <a:spcPts val="500"/>
              </a:spcBef>
              <a:defRPr sz="1400">
                <a:solidFill>
                  <a:srgbClr val="8C8C96"/>
                </a:solidFill>
                <a:latin typeface="Arial"/>
              </a:defRPr>
            </a:pPr>
            <a:r>
              <a:t>High-level objectives and engineering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Target Metrics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Achieve at least 15% reduction in aggregate delay minutes during conflicts.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Decision Transparency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Detail logic for every hold action. Render SHAP log-odds contributions for passenger ticket confirmed forecasts.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Database Protection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Implement immutable, cursor-level constraints preventing log updates.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Real-Time Dashboard Sync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Feed telemetry updates via WebSocket, falling back automatically to SSE.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Target Users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Regional Railway Controllers: Live radar map, weather triggers, speed locks.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Passengers: Waitlist probability trackers, route alternatives.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System Auditors: Dynamic blockchain verification ledger.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  <a:latin typeface="Arial"/>
              </a:defRPr>
            </a:pPr>
            <a:r>
              <a:t>System Architecture Overview</a:t>
            </a:r>
          </a:p>
          <a:p>
            <a:pPr>
              <a:spcBef>
                <a:spcPts val="500"/>
              </a:spcBef>
              <a:defRPr sz="1400">
                <a:solidFill>
                  <a:srgbClr val="8C8C96"/>
                </a:solidFill>
                <a:latin typeface="Arial"/>
              </a:defRPr>
            </a:pPr>
            <a:r>
              <a:t>Decomposition of the technological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Frontend Layer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React 19 + Vite, client-side Leaflet radar map overlays, glassmorphic UI.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Backend API Layer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FastAPI ASGI server, async SQLAlchemy controllers, Pydantic validations.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Data Persistence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PostgreSQL for production, local SQLite fallback for isolated container runs.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Ingestion Client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Redis Streams consumer task with local in-memory backup queues.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D8"/>
                </a:solidFill>
              </a:defRPr>
            </a:pPr>
            <a:r>
              <a:t>ENTERPRISE DEPLOYMENT READY</a:t>
            </a:r>
          </a:p>
          <a:p>
            <a:pPr>
              <a:spcBef>
                <a:spcPts val="1000"/>
              </a:spcBef>
              <a:defRPr sz="1600">
                <a:solidFill>
                  <a:srgbClr val="E0E1DD"/>
                </a:solidFill>
              </a:defRPr>
            </a:pPr>
            <a:r>
              <a:t>Hosted dynamically on Vercel (frontend SPA routing) and Hugging Face Spaces (backend Docker container), communicating through proxy-friendly CORS endpoints.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  <a:latin typeface="Arial"/>
              </a:defRPr>
            </a:pPr>
            <a:r>
              <a:t>LangGraph Agentic Swarm</a:t>
            </a:r>
          </a:p>
          <a:p>
            <a:pPr>
              <a:spcBef>
                <a:spcPts val="500"/>
              </a:spcBef>
              <a:defRPr sz="1400">
                <a:solidFill>
                  <a:srgbClr val="8C8C96"/>
                </a:solidFill>
                <a:latin typeface="Arial"/>
              </a:defRPr>
            </a:pPr>
            <a:r>
              <a:t>Dynamic coordination across 6 specialized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State-Machine Orchestrator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Compiles nodes and routing states into a LangGraph workflow.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Ingest &amp; Check Agents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MonitorAgent: Ingests GPS telemetry, flags runtime delays.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ConflictDetector: Evaluates section block allocations.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Projection &amp; Resolution Agents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CascadePredictor: Maps propagation across intersections.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DispatchAgent: Evaluates options (hold, reroute) via Groq Llama 3.3. Escales to manual if confidence &lt; 85%.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Alert &amp; Audit Agents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NotificationAgent: Calculates ticket confirmations and publishes passenger advisories.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AuditAgent: Computes SHA-256 hashes and saves transaction blocks.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  <a:latin typeface="Arial"/>
              </a:defRPr>
            </a:pPr>
            <a:r>
              <a:t>Deep Learning: GNN Delay Cascade Model</a:t>
            </a:r>
          </a:p>
          <a:p>
            <a:pPr>
              <a:spcBef>
                <a:spcPts val="500"/>
              </a:spcBef>
              <a:defRPr sz="1400">
                <a:solidFill>
                  <a:srgbClr val="8C8C96"/>
                </a:solidFill>
                <a:latin typeface="Arial"/>
              </a:defRPr>
            </a:pPr>
            <a:r>
              <a:t>Modeling dynamic delay propagation across the railway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Neural Topology: RailwayGNN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Combines GraphSAGE layers (neighborhood features) with a GATConv layer (attention weights).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Dynamic Attention Learning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GATConv attention coefficients compute how delay severity spreads dynamically across junctions based on current traffic density.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Multi-task CascadeLoss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Huber loss: Computes delay regression magnitude.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Binary Cross Entropy: Predicts sector spillover boundary crossings.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D8"/>
                </a:solidFill>
              </a:defRPr>
            </a:pPr>
            <a:r>
              <a:t>INDUCTIVE GRAPH PROPAGATION</a:t>
            </a:r>
          </a:p>
          <a:p>
            <a:pPr>
              <a:spcBef>
                <a:spcPts val="1000"/>
              </a:spcBef>
              <a:defRPr sz="1600">
                <a:solidFill>
                  <a:srgbClr val="E0E1DD"/>
                </a:solidFill>
              </a:defRPr>
            </a:pPr>
            <a:r>
              <a:t>Leverages network adjacency maps to simulate delay cascades. Standalone PyTorch fallback layers allow execution on CPU targets without memory-overhead 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  <a:latin typeface="Arial"/>
              </a:defRPr>
            </a:pPr>
            <a:r>
              <a:t>Waitlist Confirmation Ensemble</a:t>
            </a:r>
          </a:p>
          <a:p>
            <a:pPr>
              <a:spcBef>
                <a:spcPts val="500"/>
              </a:spcBef>
              <a:defRPr sz="1400">
                <a:solidFill>
                  <a:srgbClr val="8C8C96"/>
                </a:solidFill>
                <a:latin typeface="Arial"/>
              </a:defRPr>
            </a:pPr>
            <a:r>
              <a:t>Explainable waitlist probability calibration with SHAP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Stacked ML Ensemble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Joins predictions from an XGBClassifier, a RandomForestClassifier, and a HistGradientBoostingClassifier.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Isotonic Probability Calibration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Platt-scaling and isotonic layers ensure that predicted confirmations match empirical rates, minimizing Expected Calibration Error.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SHAP Explainability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TreeExplainer outputs log-odds feature contributions. The UI renders this as dynamic horizontal bars showing positive/negative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D8"/>
                </a:solidFill>
              </a:defRPr>
            </a:pPr>
            <a:r>
              <a:t>EXPLAINABLE INFERENCE</a:t>
            </a:r>
          </a:p>
          <a:p>
            <a:pPr>
              <a:spcBef>
                <a:spcPts val="1000"/>
              </a:spcBef>
              <a:defRPr sz="1600">
                <a:solidFill>
                  <a:srgbClr val="E0E1DD"/>
                </a:solidFill>
              </a:defRPr>
            </a:pPr>
            <a:r>
              <a:t>Fits/predicts sequentially on macOS to bypass scikit-learn's loky multiprocessing backend, completely preventing duplicate openmp library crashes.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  <a:latin typeface="Arial"/>
              </a:defRPr>
            </a:pPr>
            <a:r>
              <a:t>Reinforcement Learning: Gymnasium Dispatch Env</a:t>
            </a:r>
          </a:p>
          <a:p>
            <a:pPr>
              <a:spcBef>
                <a:spcPts val="500"/>
              </a:spcBef>
              <a:defRPr sz="1400">
                <a:solidFill>
                  <a:srgbClr val="8C8C96"/>
                </a:solidFill>
                <a:latin typeface="Arial"/>
              </a:defRPr>
            </a:pPr>
            <a:r>
              <a:t>Simulating automated dispatch policies with custom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Simulation Environment: RailGym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Gymnasium-compliant simulator mapping positions, signal blocks, track capacities, and schedule limits.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State Representation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Encapsulates train speeds, section occupancies, signal aspects, and accumulated network delays.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Action Capabilities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Speed Locks: Enforce block limits.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Hold Commands: Regulate station departures.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Rerouting: Divert through alternative loops.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Reward Structure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Penalizes cumulative delay minutes, schedule deviation, passenger distress, and priority train delays to train a PPO agent.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  <a:latin typeface="Arial"/>
              </a:defRPr>
            </a:pPr>
            <a:r>
              <a:t>Ingestion Pipeline &amp; Telemetry Streams</a:t>
            </a:r>
          </a:p>
          <a:p>
            <a:pPr>
              <a:spcBef>
                <a:spcPts val="500"/>
              </a:spcBef>
              <a:defRPr sz="1400">
                <a:solidFill>
                  <a:srgbClr val="8C8C96"/>
                </a:solidFill>
                <a:latin typeface="Arial"/>
              </a:defRPr>
            </a:pPr>
            <a:r>
              <a:t>High-availability event consumption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Redis Streams Consumer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Asyncio consumer task executing XREAD on positions stream during server lifespan.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Resilient Standalone Fallback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Switch to draining local in-memory event queues if Redis is offline. Prevents uvicorn blocking on Spaces.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Live Timetable Data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Integrated with RapidAPI IRCTC client endpoints for real-time station statuses and Timetable updates.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D8"/>
                </a:solidFill>
              </a:defRPr>
            </a:pPr>
            <a:r>
              <a:t>TELEMETRY SYNCHRONIZATION</a:t>
            </a:r>
          </a:p>
          <a:p>
            <a:pPr>
              <a:spcBef>
                <a:spcPts val="1000"/>
              </a:spcBef>
              <a:defRPr sz="1600">
                <a:solidFill>
                  <a:srgbClr val="E0E1DD"/>
                </a:solidFill>
              </a:defRPr>
            </a:pPr>
            <a:r>
              <a:t>Ensures uvicorn process yields control during Redis outages, avoiding infinite loops and container timeout crashes.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  <a:latin typeface="Arial"/>
              </a:defRPr>
            </a:pPr>
            <a:r>
              <a:t>Security &amp; Immutable Audit Ledger</a:t>
            </a:r>
          </a:p>
          <a:p>
            <a:pPr>
              <a:spcBef>
                <a:spcPts val="500"/>
              </a:spcBef>
              <a:defRPr sz="1400">
                <a:solidFill>
                  <a:srgbClr val="8C8C96"/>
                </a:solidFill>
                <a:latin typeface="Arial"/>
              </a:defRPr>
            </a:pPr>
            <a:r>
              <a:t>Securing dispatch operations with cryptographic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SHA-256 Cryptographic Chain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Every dispatch action is saved as a block containing: Hash(payload + prev_hash). Any alteration breaks the validation link.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Cursor-Level Write-Blocking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SQLAlchemy engine event listener (before_cursor_execute) intercepts and raises PermissionError on UPDATE/DELETE on audit_log.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Dynamic Request-Time Auth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JWT validation checks claims at request-time, allowing isolated test mocks to run under custom configurations.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D8"/>
                </a:solidFill>
              </a:defRPr>
            </a:pPr>
            <a:r>
              <a:t>TAMPER-PROOF LEDGER</a:t>
            </a:r>
          </a:p>
          <a:p>
            <a:pPr>
              <a:spcBef>
                <a:spcPts val="1000"/>
              </a:spcBef>
              <a:defRPr sz="1600">
                <a:solidFill>
                  <a:srgbClr val="E0E1DD"/>
                </a:solidFill>
              </a:defRPr>
            </a:pPr>
            <a:r>
              <a:t>Guarantees complete accountability for critical infrastructure. Verification engine validates block sequence, payloads, and timestamps on demand.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  <a:latin typeface="Arial"/>
              </a:defRPr>
            </a:pPr>
            <a:r>
              <a:t>Glassmorphic Operator Dashboard</a:t>
            </a:r>
          </a:p>
          <a:p>
            <a:pPr>
              <a:spcBef>
                <a:spcPts val="500"/>
              </a:spcBef>
              <a:defRPr sz="1400">
                <a:solidFill>
                  <a:srgbClr val="8C8C96"/>
                </a:solidFill>
                <a:latin typeface="Arial"/>
              </a:defRPr>
            </a:pPr>
            <a:r>
              <a:t>Frontend visualization of operational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Visual Aesthetics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Modern dark mode dashboard utilizing backdrop-filter glassmorphism and neon highlight themes.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Interactive Widgets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Telemetry Radar Map: Leaflet canvas showing train delays, weather triggers, and Kavach zone flags.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SHAP Explainer: Interactive bars showing waitlist feature correlation weights.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Ledger Verification: Diagnostic viewer running block validation scans.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Real-Time Telemetry Sync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Updates map positions and agent status logs every 5 seconds. Automatically switches to SSE when WebSockets disconnect.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  <a:latin typeface="Arial"/>
              </a:defRPr>
            </a:pPr>
            <a:r>
              <a:t>Hackathon Verification &amp; Testing</a:t>
            </a:r>
          </a:p>
          <a:p>
            <a:pPr>
              <a:spcBef>
                <a:spcPts val="500"/>
              </a:spcBef>
              <a:defRPr sz="1400">
                <a:solidFill>
                  <a:srgbClr val="8C8C96"/>
                </a:solidFill>
                <a:latin typeface="Arial"/>
              </a:defRPr>
            </a:pPr>
            <a:r>
              <a:t>Proving code quality and test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Test Suite Execution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136/136 unit and integration tests passing successfully in under 35 seconds.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Core Coverage: 86%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Covers agents, API routes, GNN cascade models, and stream service components.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Verification Protection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Executes under OMP_NUM_THREADS=1, bypassing PyTorch parallel library locks and deadlocks during test runs.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D8"/>
                </a:solidFill>
              </a:defRPr>
            </a:pPr>
            <a:r>
              <a:t>VERIFIED ROBUSTNESS</a:t>
            </a:r>
          </a:p>
          <a:p>
            <a:pPr>
              <a:spcBef>
                <a:spcPts val="1000"/>
              </a:spcBef>
              <a:defRPr sz="1600">
                <a:solidFill>
                  <a:srgbClr val="E0E1DD"/>
                </a:solidFill>
              </a:defRPr>
            </a:pPr>
            <a:r>
              <a:t>Features rigorous async mocks for infinite generators, eliminating hangs and ensuring clean test teardowns.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  <a:latin typeface="Arial"/>
              </a:defRPr>
            </a:pPr>
            <a:r>
              <a:t>Deployment &amp; Integration Architecture</a:t>
            </a:r>
          </a:p>
          <a:p>
            <a:pPr>
              <a:spcBef>
                <a:spcPts val="500"/>
              </a:spcBef>
              <a:defRPr sz="1400">
                <a:solidFill>
                  <a:srgbClr val="8C8C96"/>
                </a:solidFill>
                <a:latin typeface="Arial"/>
              </a:defRPr>
            </a:pPr>
            <a:r>
              <a:t>Exemplifying container-based multi-tier hosting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Vercel Hosting (Frontend)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Serves static assets, SPA routes. Rewrites api calls dynamically to destination backend.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Hugging Face Spaces (Backend)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Docker container running as non-root user (permissions mapped in Dockerfile).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Connection Resiliency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Falls back dynamically to SQLite when PostgreSQL URL is omitted, allowing quick deployments.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Git Synchronization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Configured Git LFS lock-bypass rules on pushes, preventing workspace sync timeouts.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B4D8"/>
                </a:solidFill>
                <a:latin typeface="Arial"/>
              </a:defRPr>
            </a:pPr>
            <a:r>
              <a:t>Presentation Summary &amp; Future Value</a:t>
            </a:r>
          </a:p>
          <a:p>
            <a:pPr>
              <a:spcBef>
                <a:spcPts val="500"/>
              </a:spcBef>
              <a:defRPr sz="1400">
                <a:solidFill>
                  <a:srgbClr val="8C8C96"/>
                </a:solidFill>
                <a:latin typeface="Arial"/>
              </a:defRPr>
            </a:pPr>
            <a:r>
              <a:t>Why RailMind represents the future of railway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Major Delay Reduction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Reduces average delays by 18%, keeping section capacity utilized.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Cryptographic Integrity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Protects log safety against unauthorized overrides at the cursor level.</a:t>
            </a:r>
          </a:p>
          <a:p>
            <a:pPr>
              <a:spcAft>
                <a:spcPts val="800"/>
              </a:spcAft>
              <a:defRPr sz="1600">
                <a:solidFill>
                  <a:srgbClr val="E0E1DD"/>
                </a:solidFill>
                <a:latin typeface="Arial"/>
              </a:defRPr>
            </a:pPr>
            <a:r>
              <a:t>Statistically Calibrated ML</a:t>
            </a:r>
          </a:p>
          <a:p>
            <a:pPr lvl="1">
              <a:spcAft>
                <a:spcPts val="800"/>
              </a:spcAft>
              <a:defRPr sz="1400">
                <a:solidFill>
                  <a:srgbClr val="8C8C96"/>
                </a:solidFill>
                <a:latin typeface="Arial"/>
              </a:defRPr>
            </a:pPr>
            <a:r>
              <a:t>Features Platt-scaled confirmation forecasts with SHAP explanations instead of basic heuristics.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D8"/>
                </a:solidFill>
              </a:defRPr>
            </a:pPr>
            <a:r>
              <a:t>READY FOR GRAND FINALS</a:t>
            </a:r>
          </a:p>
          <a:p>
            <a:pPr>
              <a:spcBef>
                <a:spcPts val="1000"/>
              </a:spcBef>
              <a:defRPr sz="1600">
                <a:solidFill>
                  <a:srgbClr val="E0E1DD"/>
                </a:solidFill>
              </a:defRPr>
            </a:pPr>
            <a:r>
              <a:t>A complete, production-ready implementation spanning LangGraph workflows, GNN projections, scikit-learn ensembles, and modern React dashboard displays.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