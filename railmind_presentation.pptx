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FF"/>
                </a:solidFill>
                <a:latin typeface="Segoe UI"/>
              </a:defRPr>
            </a:pPr>
            <a:r>
              <a:t>RAILMIND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0F4F8"/>
                </a:solidFill>
                <a:latin typeface="Segoe UI"/>
              </a:defRPr>
            </a:pPr>
            <a:r>
              <a:t>Autonomous Decision Grid &amp; Real-Time Telemetry for Indian Railways</a:t>
            </a:r>
          </a:p>
          <a:p>
            <a:pPr algn="ctr">
              <a:spcBef>
                <a:spcPts val="800"/>
              </a:spcBef>
              <a:defRPr sz="1300">
                <a:solidFill>
                  <a:srgbClr val="8C96AA"/>
                </a:solidFill>
                <a:latin typeface="Segoe UI"/>
              </a:defRPr>
            </a:pPr>
            <a:r>
              <a:t>Delhi Regionals Screening | India's Biggest International Hackathon — Far Away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Segoe UI"/>
              </a:defRPr>
            </a:pPr>
            <a:r>
              <a:t>THE OPERATIONAL CRISIS: INDIAN RAILWAYS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C96AA"/>
                </a:solidFill>
                <a:latin typeface="Segoe UI"/>
              </a:defRPr>
            </a:pPr>
            <a:r>
              <a:t>Why traditional manual scheduling systems drop efficiency under saturation 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363"/>
                </a:solidFill>
                <a:latin typeface="Segoe UI"/>
              </a:defRPr>
            </a:pPr>
            <a:r>
              <a:t>PUNCTUALITY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62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4F8"/>
                </a:solidFill>
                <a:latin typeface="Segoe UI"/>
              </a:defRPr>
            </a:pPr>
            <a:r>
              <a:t>73.62%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9626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C96AA"/>
                </a:solidFill>
                <a:latin typeface="Segoe UI"/>
              </a:defRPr>
            </a:pPr>
            <a:r>
              <a:t>Corridor congestion and line saturation have led to a precipitous drop in overall punctuality. When one train halts, the delay cascade transmits across adjacent blocks unchecked.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828800"/>
            <a:ext cx="3328416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201168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363"/>
                </a:solidFill>
                <a:latin typeface="Segoe UI"/>
              </a:defRPr>
            </a:pPr>
            <a:r>
              <a:t>HUMAN HEURISTICS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560320"/>
            <a:ext cx="2962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4F8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657600"/>
            <a:ext cx="29626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C96AA"/>
                </a:solidFill>
                <a:latin typeface="Segoe UI"/>
              </a:defRPr>
            </a:pPr>
            <a:r>
              <a:t>Section controllers currently resolve complex scheduling overlaps and loop holdings using personal bias and mental calculations under extreme stress, creating sub-optimal grid lockouts.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28800"/>
            <a:ext cx="3328416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1168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363"/>
                </a:solidFill>
                <a:latin typeface="Segoe UI"/>
              </a:defRPr>
            </a:pPr>
            <a:r>
              <a:t>CONTROLLABLE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560320"/>
            <a:ext cx="2962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4F8"/>
                </a:solidFill>
                <a:latin typeface="Segoe UI"/>
              </a:defRPr>
            </a:pPr>
            <a:r>
              <a:t>27 of 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657600"/>
            <a:ext cx="29626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C96AA"/>
                </a:solidFill>
                <a:latin typeface="Segoe UI"/>
              </a:defRPr>
            </a:pPr>
            <a:r>
              <a:t>A majority of delay-causing factors on corridors are predictable and controllable, yet they lack real-time digital automation feedback loops to dynamically reroute and optimize dispatching.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Segoe UI"/>
              </a:defRPr>
            </a:pPr>
            <a:r>
              <a:t>RAILMIND: AUTONOMOUS DISPATCHING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C96AA"/>
                </a:solidFill>
                <a:latin typeface="Segoe UI"/>
              </a:defRPr>
            </a:pPr>
            <a:r>
              <a:t>The closed-loop decision grid that runs predictive graphs and assists controllers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626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TELEMETRY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GPS Sync: </a:t>
            </a:r>
            <a:r>
              <a:rPr>
                <a:solidFill>
                  <a:srgbClr val="DCE1EB"/>
                </a:solidFill>
              </a:rPr>
              <a:t>Dynamically tracks active train spatial coordinates and speed profiles.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Block Status: </a:t>
            </a:r>
            <a:r>
              <a:rPr>
                <a:solidFill>
                  <a:srgbClr val="DCE1EB"/>
                </a:solidFill>
              </a:rPr>
              <a:t>Monitors section block occupancy states (green, orange, red) in real-time.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Relational Store: </a:t>
            </a:r>
            <a:r>
              <a:rPr>
                <a:solidFill>
                  <a:srgbClr val="DCE1EB"/>
                </a:solidFill>
              </a:rPr>
              <a:t>aiosqlite database writes state histories to ensure audit trail continuity.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11680"/>
            <a:ext cx="29626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CASCADE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560320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NetworkX Graphs: </a:t>
            </a:r>
            <a:r>
              <a:rPr>
                <a:solidFill>
                  <a:srgbClr val="DCE1EB"/>
                </a:solidFill>
              </a:rPr>
              <a:t>Corridor stations and blocks represented as dynamic nodes and edges.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BFS Propagation: </a:t>
            </a:r>
            <a:r>
              <a:rPr>
                <a:solidFill>
                  <a:srgbClr val="DCE1EB"/>
                </a:solidFill>
              </a:rPr>
              <a:t>Performs Breadth-First Searches to model delay transference down the corridor.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Conflict Warning: </a:t>
            </a:r>
            <a:r>
              <a:rPr>
                <a:solidFill>
                  <a:srgbClr val="DCE1EB"/>
                </a:solidFill>
              </a:rPr>
              <a:t>Flags future route overlap conflicts up to 60 minutes in advance.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828800"/>
            <a:ext cx="3328416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011680"/>
            <a:ext cx="29626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EXPLAINABLE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560320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Optimization: </a:t>
            </a:r>
            <a:r>
              <a:rPr>
                <a:solidFill>
                  <a:srgbClr val="DCE1EB"/>
                </a:solidFill>
              </a:rPr>
              <a:t>Generates optimal loop-holding options to clear high-priority express routes.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Confidence Gate: </a:t>
            </a:r>
            <a:r>
              <a:rPr>
                <a:solidFill>
                  <a:srgbClr val="DCE1EB"/>
                </a:solidFill>
              </a:rPr>
              <a:t>Automated actions execute if confidence &gt; 85%, else escalates to operator.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Passenger RAC: </a:t>
            </a:r>
            <a:r>
              <a:rPr>
                <a:solidFill>
                  <a:srgbClr val="DCE1EB"/>
                </a:solidFill>
              </a:rPr>
              <a:t>Forecasts waitlist confirmation chances for passengers delayed in cascades.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Segoe UI"/>
              </a:defRPr>
            </a:pPr>
            <a:r>
              <a:t>AGENTIC AI GRAPH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C96AA"/>
                </a:solidFill>
                <a:latin typeface="Segoe UI"/>
              </a:defRPr>
            </a:pPr>
            <a:r>
              <a:t>Sequential collaboration pipeline of specialized agents resolving corridor bottlenecks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164592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  <a:latin typeface="Segoe UI"/>
              </a:defRPr>
            </a:pPr>
            <a:r>
              <a:t>MONITOR AGENT</a:t>
            </a:r>
          </a:p>
          <a:p>
            <a:pPr>
              <a:spcBef>
                <a:spcPts val="6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Tracks Live Telemetry &amp; Flags Variance &gt; 20m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011680"/>
            <a:ext cx="3328416" cy="164592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224028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  <a:latin typeface="Segoe UI"/>
              </a:defRPr>
            </a:pPr>
            <a:r>
              <a:t>CONFLICT DETECTOR</a:t>
            </a:r>
          </a:p>
          <a:p>
            <a:pPr>
              <a:spcBef>
                <a:spcPts val="6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Scans Physical Corridor block Overlaps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011680"/>
            <a:ext cx="3328416" cy="164592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224028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  <a:latin typeface="Segoe UI"/>
              </a:defRPr>
            </a:pPr>
            <a:r>
              <a:t>CASCADE PREDICTOR</a:t>
            </a:r>
          </a:p>
          <a:p>
            <a:pPr>
              <a:spcBef>
                <a:spcPts val="6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Runs BFS Delay Propagation downstream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3328416" cy="164592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  <a:latin typeface="Segoe UI"/>
              </a:defRPr>
            </a:pPr>
            <a:r>
              <a:t>DISPATCH AGENT</a:t>
            </a:r>
          </a:p>
          <a:p>
            <a:pPr>
              <a:spcBef>
                <a:spcPts val="6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Calculates Optimal Loop-Holding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297680"/>
            <a:ext cx="3328416" cy="164592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452628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  <a:latin typeface="Segoe UI"/>
              </a:defRPr>
            </a:pPr>
            <a:r>
              <a:t>NOTIFICATION AGENT</a:t>
            </a:r>
          </a:p>
          <a:p>
            <a:pPr>
              <a:spcBef>
                <a:spcPts val="6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Runs RAC waitlist calculations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297680"/>
            <a:ext cx="3328416" cy="164592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452628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  <a:latin typeface="Segoe UI"/>
              </a:defRPr>
            </a:pPr>
            <a:r>
              <a:t>AUDIT AGENT</a:t>
            </a:r>
          </a:p>
          <a:p>
            <a:pPr>
              <a:spcBef>
                <a:spcPts val="6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Seals steps in SHA-256 Block Ledger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14800" y="2651760"/>
            <a:ext cx="256032" cy="182880"/>
          </a:xfrm>
          <a:prstGeom prst="right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808975" y="2651760"/>
            <a:ext cx="256032" cy="182880"/>
          </a:xfrm>
          <a:prstGeom prst="right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9784080" y="3749039"/>
            <a:ext cx="182880" cy="457200"/>
          </a:xfrm>
          <a:prstGeom prst="down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7808975" y="5029200"/>
            <a:ext cx="256032" cy="182880"/>
          </a:xfrm>
          <a:prstGeom prst="left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 Arrow 20"/>
          <p:cNvSpPr/>
          <p:nvPr/>
        </p:nvSpPr>
        <p:spPr>
          <a:xfrm>
            <a:off x="4114800" y="5029200"/>
            <a:ext cx="256032" cy="182880"/>
          </a:xfrm>
          <a:prstGeom prst="left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Segoe UI"/>
              </a:defRPr>
            </a:pPr>
            <a:r>
              <a:t>DEMO SCENARIO: NDLS SIGNAL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C96AA"/>
                </a:solidFill>
                <a:latin typeface="Segoe UI"/>
              </a:defRPr>
            </a:pPr>
            <a:r>
              <a:t>Timeline of the 7-step telemetry conflict resolution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393192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9050"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62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363"/>
                </a:solidFill>
                <a:latin typeface="Segoe UI"/>
              </a:defRPr>
            </a:pPr>
            <a:r>
              <a:t>STEP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62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4F8"/>
                </a:solidFill>
                <a:latin typeface="Segoe UI"/>
              </a:defRPr>
            </a:pPr>
            <a:r>
              <a:t>DISRUPTION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9626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C96AA"/>
                </a:solidFill>
                <a:latin typeface="Segoe UI"/>
              </a:defRPr>
            </a:pPr>
            <a:r>
              <a:t>Signal failure at NDLS exit tracks Shatabdi 12002 halted for 35m. ConflictDetector registers path block overlap.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011680"/>
            <a:ext cx="3328416" cy="393192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9050"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2194560"/>
            <a:ext cx="2962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363"/>
                </a:solidFill>
                <a:latin typeface="Segoe UI"/>
              </a:defRPr>
            </a:pPr>
            <a:r>
              <a:t>STEP 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651760"/>
            <a:ext cx="2962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4F8"/>
                </a:solidFill>
                <a:latin typeface="Segoe UI"/>
              </a:defRPr>
            </a:pPr>
            <a:r>
              <a:t>CASCADE PROPAGATION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200400"/>
            <a:ext cx="29626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C96AA"/>
                </a:solidFill>
                <a:latin typeface="Segoe UI"/>
              </a:defRPr>
            </a:pPr>
            <a:r>
              <a:t>CascadePredictor runs BFS. Forecasts Coal Freight BOXN-902 blocking NDLS-GZB corridor, projecting a massive +180m delay cascade.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2011680"/>
            <a:ext cx="3328416" cy="393192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194560"/>
            <a:ext cx="2962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Segoe UI"/>
              </a:defRPr>
            </a:pPr>
            <a:r>
              <a:t>STEP 5-7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651760"/>
            <a:ext cx="2962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4F8"/>
                </a:solidFill>
                <a:latin typeface="Segoe UI"/>
              </a:defRPr>
            </a:pPr>
            <a:r>
              <a:t>RESOLUTION &amp;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200400"/>
            <a:ext cx="29626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C96AA"/>
                </a:solidFill>
                <a:latin typeface="Segoe UI"/>
              </a:defRPr>
            </a:pPr>
            <a:r>
              <a:t>DispatchAgent recommends loop holding. Confidence is 78% (&lt; 85% gate). Operator manual override approved and signed in ledger.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3977639"/>
            <a:ext cx="365760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54112" y="3977639"/>
            <a:ext cx="365760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Segoe UI"/>
              </a:defRPr>
            </a:pPr>
            <a:r>
              <a:t>DECOUPLED FULL-STACK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C96AA"/>
                </a:solidFill>
                <a:latin typeface="Segoe UI"/>
              </a:defRPr>
            </a:pPr>
            <a:r>
              <a:t>Dual production deployment strategy designed for performance and security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75504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FRONTEND DASHBOARD CONSOLE (VERCEL)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8097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Interactive Corridor Map: </a:t>
            </a:r>
            <a:r>
              <a:rPr>
                <a:solidFill>
                  <a:srgbClr val="DCE1EB"/>
                </a:solidFill>
              </a:rPr>
              <a:t>SVG render with flashing delay indicators.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Agent Terminal Stream: </a:t>
            </a:r>
            <a:r>
              <a:rPr>
                <a:solidFill>
                  <a:srgbClr val="DCE1EB"/>
                </a:solidFill>
              </a:rPr>
              <a:t>Real-time process logs with dynamic tag filters.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Waitlist Solver UI: </a:t>
            </a:r>
            <a:r>
              <a:rPr>
                <a:solidFill>
                  <a:srgbClr val="DCE1EB"/>
                </a:solidFill>
              </a:rPr>
              <a:t>Waitlist verification interface with visual progress circles.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Zero-Trust Sweeps: </a:t>
            </a:r>
            <a:r>
              <a:rPr>
                <a:solidFill>
                  <a:srgbClr val="DCE1EB"/>
                </a:solidFill>
              </a:rPr>
              <a:t>Visual matrix scan verifying sealed audit ledger blocks.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Proxy Mappings: </a:t>
            </a:r>
            <a:r>
              <a:rPr>
                <a:solidFill>
                  <a:srgbClr val="DCE1EB"/>
                </a:solidFill>
              </a:rPr>
              <a:t>vercel.json handles API routes directly to bypass CORS blocks.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011680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90FF"/>
                </a:solidFill>
                <a:latin typeface="Segoe UI"/>
              </a:defRPr>
            </a:pPr>
            <a:r>
              <a:t>BACKEND INTELLIGENCE ENGINE (HUGGING FACE)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560320"/>
            <a:ext cx="48097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API Web Framework: </a:t>
            </a:r>
            <a:r>
              <a:rPr>
                <a:solidFill>
                  <a:srgbClr val="DCE1EB"/>
                </a:solidFill>
              </a:rPr>
              <a:t>Python FastAPI serving asynchronous, high-frequency endpoints.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NetworkX Analytics: </a:t>
            </a:r>
            <a:r>
              <a:rPr>
                <a:solidFill>
                  <a:srgbClr val="DCE1EB"/>
                </a:solidFill>
              </a:rPr>
              <a:t>Direct graph-based evaluation of route bottlenecks.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Data Consistency: </a:t>
            </a:r>
            <a:r>
              <a:rPr>
                <a:solidFill>
                  <a:srgbClr val="DCE1EB"/>
                </a:solidFill>
              </a:rPr>
              <a:t>SQLite relational database using aiosqlite transactions.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Dockerized Space: </a:t>
            </a:r>
            <a:r>
              <a:rPr>
                <a:solidFill>
                  <a:srgbClr val="DCE1EB"/>
                </a:solidFill>
              </a:rPr>
              <a:t>Custom Dockerfile exposing server instance on port 7860.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Secured Hashes: </a:t>
            </a:r>
            <a:r>
              <a:rPr>
                <a:solidFill>
                  <a:srgbClr val="DCE1EB"/>
                </a:solidFill>
              </a:rPr>
              <a:t>Seals controller manual approvals with SHA-256 cryptography.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Segoe UI"/>
              </a:defRPr>
            </a:pPr>
            <a:r>
              <a:t>ZERO-TRUST CRYPTOGRAPHIC AUDIT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C96AA"/>
                </a:solidFill>
                <a:latin typeface="Segoe UI"/>
              </a:defRPr>
            </a:pPr>
            <a:r>
              <a:t>Blockchain-inspired sequential integrity verification protecting grid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28416" cy="36576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62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Segoe UI"/>
              </a:defRPr>
            </a:pPr>
            <a:r>
              <a:t>GENESIS BLOCK 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Action: </a:t>
            </a:r>
            <a:r>
              <a:rPr>
                <a:solidFill>
                  <a:srgbClr val="DCE1EB"/>
                </a:solidFill>
              </a:rPr>
              <a:t>NDLS DISRUPTION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Prev Hash: </a:t>
            </a:r>
            <a:r>
              <a:rPr>
                <a:solidFill>
                  <a:srgbClr val="8C96AA"/>
                </a:solidFill>
              </a:rPr>
              <a:t>----------------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Block Hash: </a:t>
            </a:r>
            <a:r>
              <a:rPr>
                <a:solidFill>
                  <a:srgbClr val="F0F4F8"/>
                </a:solidFill>
              </a:rPr>
              <a:t>0000a89d3c5f21ea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Signature: </a:t>
            </a:r>
            <a:r>
              <a:rPr>
                <a:solidFill>
                  <a:srgbClr val="8C96AA"/>
                </a:solidFill>
              </a:rPr>
              <a:t>ECDSA Secured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194560"/>
            <a:ext cx="3328416" cy="36576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377440"/>
            <a:ext cx="2962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Segoe UI"/>
              </a:defRPr>
            </a:pPr>
            <a:r>
              <a:t>LEDGER BLOCK 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92608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Action: </a:t>
            </a:r>
            <a:r>
              <a:rPr>
                <a:solidFill>
                  <a:srgbClr val="DCE1EB"/>
                </a:solidFill>
              </a:rPr>
              <a:t>DISPATCH PROPOSE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Prev Hash: </a:t>
            </a:r>
            <a:r>
              <a:rPr>
                <a:solidFill>
                  <a:srgbClr val="8C96AA"/>
                </a:solidFill>
              </a:rPr>
              <a:t>0000a89d3c5f21ea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Block Hash: </a:t>
            </a:r>
            <a:r>
              <a:rPr>
                <a:solidFill>
                  <a:srgbClr val="F0F4F8"/>
                </a:solidFill>
              </a:rPr>
              <a:t>0000ef82c1b2f90d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Signature: </a:t>
            </a:r>
            <a:r>
              <a:rPr>
                <a:solidFill>
                  <a:srgbClr val="8C96AA"/>
                </a:solidFill>
              </a:rPr>
              <a:t>ECDSA Secured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194560"/>
            <a:ext cx="3328416" cy="36576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377440"/>
            <a:ext cx="2962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Segoe UI"/>
              </a:defRPr>
            </a:pPr>
            <a:r>
              <a:t>LEDGER BLOCK 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92608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Action: </a:t>
            </a:r>
            <a:r>
              <a:rPr>
                <a:solidFill>
                  <a:srgbClr val="DCE1EB"/>
                </a:solidFill>
              </a:rPr>
              <a:t>OPERATOR APPROVE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Prev Hash: </a:t>
            </a:r>
            <a:r>
              <a:rPr>
                <a:solidFill>
                  <a:srgbClr val="8C96AA"/>
                </a:solidFill>
              </a:rPr>
              <a:t>0000ef82c1b2f90d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Block Hash: </a:t>
            </a:r>
            <a:r>
              <a:rPr>
                <a:solidFill>
                  <a:srgbClr val="F0F4F8"/>
                </a:solidFill>
              </a:rPr>
              <a:t>00009c2af0e5138a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Signature: </a:t>
            </a:r>
            <a:r>
              <a:rPr>
                <a:solidFill>
                  <a:srgbClr val="8C96AA"/>
                </a:solidFill>
              </a:rPr>
              <a:t>ECDSA Secured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14800" y="3840480"/>
            <a:ext cx="256032" cy="18288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808975" y="3840480"/>
            <a:ext cx="256032" cy="18288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Segoe UI"/>
              </a:defRPr>
            </a:pPr>
            <a:r>
              <a:t>TOKYO GRAND FINALS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C96AA"/>
                </a:solidFill>
                <a:latin typeface="Segoe UI"/>
              </a:defRPr>
            </a:pPr>
            <a:r>
              <a:t>Scaling RailMind from a regional pilot to a unified national signaling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75504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2700">
            <a:solidFill>
              <a:srgbClr val="8C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C96AA"/>
                </a:solidFill>
                <a:latin typeface="Segoe UI"/>
              </a:defRPr>
            </a:pPr>
            <a:r>
              <a:t>PHASE 1: DELHI REGIONALS (CURRENT)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8097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Seeded Database: </a:t>
            </a:r>
            <a:r>
              <a:rPr>
                <a:solidFill>
                  <a:srgbClr val="DCE1EB"/>
                </a:solidFill>
              </a:rPr>
              <a:t>Relational mapping for the Delhi-Kanpur corridor.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Interactive Web Console: </a:t>
            </a:r>
            <a:r>
              <a:rPr>
                <a:solidFill>
                  <a:srgbClr val="DCE1EB"/>
                </a:solidFill>
              </a:rPr>
              <a:t>React client displaying live dispatch recommendations.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Predictive Simulations: </a:t>
            </a:r>
            <a:r>
              <a:rPr>
                <a:solidFill>
                  <a:srgbClr val="DCE1EB"/>
                </a:solidFill>
              </a:rPr>
              <a:t>Offline 7-step player mapping delay chains.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Ledger Sweeps: </a:t>
            </a:r>
            <a:r>
              <a:rPr>
                <a:solidFill>
                  <a:srgbClr val="DCE1EB"/>
                </a:solidFill>
              </a:rPr>
              <a:t>Local SHA-256 validation routines.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114800"/>
          </a:xfrm>
          <a:prstGeom prst="roundRect">
            <a:avLst>
              <a:gd name="adj" fmla="val 4000"/>
            </a:avLst>
          </a:prstGeom>
          <a:solidFill>
            <a:srgbClr val="12192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011680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PHASE 2: TOKYO GRAND FINALS (SCALE)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560320"/>
            <a:ext cx="48097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Real-Time Ingestion: </a:t>
            </a:r>
            <a:r>
              <a:rPr>
                <a:solidFill>
                  <a:srgbClr val="DCE1EB"/>
                </a:solidFill>
              </a:rPr>
              <a:t>Integrating Kafka streams for live signaling tracks.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Partitioned Storage: </a:t>
            </a:r>
            <a:r>
              <a:rPr>
                <a:solidFill>
                  <a:srgbClr val="DCE1EB"/>
                </a:solidFill>
              </a:rPr>
              <a:t>TimescaleDB telemetry engines handling millions of daily updates.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XGBoost Ticket Models: </a:t>
            </a:r>
            <a:r>
              <a:rPr>
                <a:solidFill>
                  <a:srgbClr val="DCE1EB"/>
                </a:solidFill>
              </a:rPr>
              <a:t>ML Waitlist probability inference engine trained on seasonal records.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Kavach Protocol: </a:t>
            </a:r>
            <a:r>
              <a:rPr>
                <a:solidFill>
                  <a:srgbClr val="DCE1EB"/>
                </a:solidFill>
              </a:rPr>
              <a:t>Direct API endpoints interacting with locomotive warning networks.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D4FF"/>
                </a:solidFill>
              </a:rPr>
              <a:t>Geographic Clusters: </a:t>
            </a:r>
            <a:r>
              <a:rPr>
                <a:solidFill>
                  <a:srgbClr val="DCE1EB"/>
                </a:solidFill>
              </a:rPr>
              <a:t>High-availability Kubernetes deployment covering all primary zones.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